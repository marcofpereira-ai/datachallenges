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21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6176824-7946-6969-3841-DD5C101D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5716"/>
            <a:ext cx="9144000" cy="5171240"/>
            <a:chOff x="0" y="-7622"/>
            <a:chExt cx="12192000" cy="68949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675077-BFF1-36B0-EA6D-B4599DBA7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F637796C-75D6-BAA5-036C-0E9E7F85B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BFBD50A-DBB5-04FA-45B9-183C84E4C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E2659E1E-0E9F-DC4F-40A9-CFA17ED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17EE9066-7784-E609-02A7-B2F62360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" b="1209"/>
          <a:stretch>
            <a:fillRect/>
          </a:stretch>
        </p:blipFill>
        <p:spPr>
          <a:xfrm>
            <a:off x="92037" y="86803"/>
            <a:ext cx="8953989" cy="496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3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A1C81863-24D3-8ED2-3408-DF7259664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685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DADOS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" y="1310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Bússola Pública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2042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 de Dados Legislativos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816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Automatizando o monitoramento legislativo com Python, Pandas e PostgreSQL na nuvem — do dado bruto à inteligência analítica.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840" y="4021074"/>
            <a:ext cx="14782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</a:p>
          <a:p>
            <a:pPr marL="0" indent="0" algn="ctr">
              <a:buNone/>
            </a:pPr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197608" y="379552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10000" y="378790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75376" y="3787902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55180" y="375742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</a:t>
            </a:r>
            <a:endParaRPr lang="en-US" sz="10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58B0E8B-8F3D-F9B5-5CC5-2E547C89E6B5}"/>
              </a:ext>
            </a:extLst>
          </p:cNvPr>
          <p:cNvSpPr txBox="1"/>
          <p:nvPr/>
        </p:nvSpPr>
        <p:spPr>
          <a:xfrm>
            <a:off x="375920" y="4104894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Robusta 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Escálável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31EE400-9DE7-175A-A4C1-751852E62E3C}"/>
              </a:ext>
            </a:extLst>
          </p:cNvPr>
          <p:cNvSpPr txBox="1"/>
          <p:nvPr/>
        </p:nvSpPr>
        <p:spPr>
          <a:xfrm>
            <a:off x="2077720" y="4107942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A085649-95A2-7209-C495-1F9FA970AC27}"/>
              </a:ext>
            </a:extLst>
          </p:cNvPr>
          <p:cNvSpPr txBox="1"/>
          <p:nvPr/>
        </p:nvSpPr>
        <p:spPr>
          <a:xfrm>
            <a:off x="3810000" y="4131056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Seguro 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1FC77F3-A7A7-432C-118C-D1F02D3674AD}"/>
              </a:ext>
            </a:extLst>
          </p:cNvPr>
          <p:cNvSpPr txBox="1"/>
          <p:nvPr/>
        </p:nvSpPr>
        <p:spPr>
          <a:xfrm>
            <a:off x="5542280" y="4107942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F81E10F-0B2A-2BC3-FF0F-390A1F61B514}"/>
              </a:ext>
            </a:extLst>
          </p:cNvPr>
          <p:cNvSpPr txBox="1"/>
          <p:nvPr/>
        </p:nvSpPr>
        <p:spPr>
          <a:xfrm>
            <a:off x="7273290" y="4054856"/>
            <a:ext cx="147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Bronze, Silver e Gold para dados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confiáveis</a:t>
            </a:r>
            <a:endParaRPr lang="en-US" sz="1000" dirty="0"/>
          </a:p>
          <a:p>
            <a:pPr algn="ctr"/>
            <a:endParaRPr lang="pt-B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Bússola Pública operava 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Bússola Pública é uma consultoria de relações governamentais que vende </a:t>
            </a: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legislativa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grandes clientes corporativos.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2461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lei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53872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Votações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 deputados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39776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83480" y="12344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Processo Manual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5819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preenchiam planilhas pessoais de forma descentralizada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313432"/>
            <a:ext cx="39776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83480" y="24048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sz="13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Suscetível</a:t>
            </a: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Erros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7523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padronização, cada analista seguia seu próprio critério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483864"/>
            <a:ext cx="39776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83480" y="357530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Impossível Escalar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92277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crescente de dados tornava o método inviável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1E40A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Medalhão — do dado bruto à nuvem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CD7F32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D7F32">
              <a:alpha val="80000"/>
            </a:srgbClr>
          </a:solidFill>
          <a:ln w="12700">
            <a:solidFill>
              <a:srgbClr val="CD7F3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CD7F32">
              <a:alpha val="60000"/>
            </a:srgbClr>
          </a:solidFill>
          <a:ln w="12700">
            <a:solidFill>
              <a:srgbClr val="CD7F3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bruto salvo localmente. Garante idempotência.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5000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1460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C0C0C0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60604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0C0C0">
              <a:alpha val="80000"/>
            </a:srgbClr>
          </a:solidFill>
          <a:ln w="12700">
            <a:solidFill>
              <a:srgbClr val="C0C0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60604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965960"/>
            <a:ext cx="640080" cy="640080"/>
          </a:xfrm>
          <a:prstGeom prst="ellipse">
            <a:avLst/>
          </a:prstGeom>
          <a:solidFill>
            <a:srgbClr val="C0C0C0">
              <a:alpha val="60000"/>
            </a:srgbClr>
          </a:solidFill>
          <a:ln w="12700">
            <a:solidFill>
              <a:srgbClr val="C0C0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2004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2432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2432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Tipagem, deduplicação e padronização com Pandas.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4456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FFD700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80060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D700">
              <a:alpha val="80000"/>
            </a:srgbClr>
          </a:solidFill>
          <a:ln w="12700">
            <a:solidFill>
              <a:srgbClr val="FFD7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0060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94960" y="1965960"/>
            <a:ext cx="640080" cy="640080"/>
          </a:xfrm>
          <a:prstGeom prst="ellipse">
            <a:avLst/>
          </a:prstGeom>
          <a:solidFill>
            <a:srgbClr val="FFD700">
              <a:alpha val="60000"/>
            </a:srgbClr>
          </a:solidFill>
          <a:ln w="12700">
            <a:solidFill>
              <a:srgbClr val="FFD7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394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1888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1888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colunar Parquet via pyarrow.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3912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0372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99516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99516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89520" y="1965960"/>
            <a:ext cx="640080" cy="640080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589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344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1344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no Supabase via SQLAlchemy.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061235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Mais de 70.000 linhas de despesas tratadas apenas para o ano corrente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próximos passos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Extração Resiliente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 salvos em JSON com controle de paginação e rate limit.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Qualidade Garantida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com dim_deputados, dim_proposicoes e fato_despesas.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19856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94360" y="35112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Cloud Ready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em lotes no Supabase via SQLAlchemy — escalável desde o dia 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069080" cy="3346704"/>
          </a:xfrm>
          <a:prstGeom prst="roundRect">
            <a:avLst>
              <a:gd name="adj" fmla="val 3279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937760" y="13533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Fases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92040" y="1810512"/>
            <a:ext cx="3657600" cy="987552"/>
          </a:xfrm>
          <a:prstGeom prst="roundRect">
            <a:avLst>
              <a:gd name="adj" fmla="val 7407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74920" y="19019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2249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LLMs para enriquecimento automático das proposições legislativas.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926080"/>
            <a:ext cx="3657600" cy="987552"/>
          </a:xfrm>
          <a:prstGeom prst="roundRect">
            <a:avLst>
              <a:gd name="adj" fmla="val 7407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74920" y="3017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n8n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364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automatizada com workflows de monitoramento e alertas.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name="adj" fmla="val 16667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 planilhas manuais a um pipeline de dados escalável, resiliente e pronto para IA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308</Words>
  <Application>Microsoft Office PowerPoint</Application>
  <PresentationFormat>Apresentação na tela (16:9)</PresentationFormat>
  <Paragraphs>69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Bússola Pública - Pipeline de Dados</dc:title>
  <dc:subject>PptxGenJS Presentation</dc:subject>
  <dc:creator>PptxGenJS</dc:creator>
  <cp:lastModifiedBy>Mario Castilho</cp:lastModifiedBy>
  <cp:revision>5</cp:revision>
  <dcterms:created xsi:type="dcterms:W3CDTF">2026-06-09T11:56:04Z</dcterms:created>
  <dcterms:modified xsi:type="dcterms:W3CDTF">2026-06-09T13:46:36Z</dcterms:modified>
</cp:coreProperties>
</file>