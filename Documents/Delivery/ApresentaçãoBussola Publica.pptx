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60" r:id="rId2"/>
    <p:sldId id="256" r:id="rId3"/>
    <p:sldId id="257" r:id="rId4"/>
    <p:sldId id="258" r:id="rId5"/>
    <p:sldId id="259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17:25:04.4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92100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26176824-7946-6969-3841-DD5C101DF4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5716"/>
            <a:ext cx="9144000" cy="5171240"/>
            <a:chOff x="0" y="-7622"/>
            <a:chExt cx="12192000" cy="689498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5675077-BFF1-36B0-EA6D-B4599DBA72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-7621"/>
              <a:ext cx="12192000" cy="6887364"/>
            </a:xfrm>
            <a:prstGeom prst="rect">
              <a:avLst/>
            </a:prstGeom>
            <a:gradFill>
              <a:gsLst>
                <a:gs pos="8000">
                  <a:schemeClr val="accent5"/>
                </a:gs>
                <a:gs pos="100000">
                  <a:schemeClr val="accent2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Rectangle 11">
              <a:extLst>
                <a:ext uri="{FF2B5EF4-FFF2-40B4-BE49-F238E27FC236}">
                  <a16:creationId xmlns:a16="http://schemas.microsoft.com/office/drawing/2014/main" id="{F637796C-75D6-BAA5-036C-0E9E7F85B7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9" y="0"/>
              <a:ext cx="8216919" cy="6887364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  <a:alpha val="79000"/>
                  </a:schemeClr>
                </a:gs>
                <a:gs pos="40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92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2">
              <a:extLst>
                <a:ext uri="{FF2B5EF4-FFF2-40B4-BE49-F238E27FC236}">
                  <a16:creationId xmlns:a16="http://schemas.microsoft.com/office/drawing/2014/main" id="{6BFBD50A-DBB5-04FA-45B9-183C84E4C9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39978" y="-7622"/>
              <a:ext cx="8451623" cy="6887367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  <a:alpha val="67000"/>
                  </a:schemeClr>
                </a:gs>
                <a:gs pos="60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3">
              <a:extLst>
                <a:ext uri="{FF2B5EF4-FFF2-40B4-BE49-F238E27FC236}">
                  <a16:creationId xmlns:a16="http://schemas.microsoft.com/office/drawing/2014/main" id="{E2659E1E-0E9F-DC4F-40A9-CFA17EDF78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8217318" y="7059"/>
              <a:ext cx="3974283" cy="6872683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4000"/>
                  </a:schemeClr>
                </a:gs>
                <a:gs pos="41000">
                  <a:schemeClr val="accent2">
                    <a:alpha val="0"/>
                  </a:schemeClr>
                </a:gs>
              </a:gsLst>
              <a:lin ang="12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pic>
        <p:nvPicPr>
          <p:cNvPr id="5" name="Imagem 4">
            <a:extLst>
              <a:ext uri="{FF2B5EF4-FFF2-40B4-BE49-F238E27FC236}">
                <a16:creationId xmlns:a16="http://schemas.microsoft.com/office/drawing/2014/main" id="{17EE9066-7784-E609-02A7-B2F62360A8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30" b="1209"/>
          <a:stretch>
            <a:fillRect/>
          </a:stretch>
        </p:blipFill>
        <p:spPr>
          <a:xfrm>
            <a:off x="92037" y="86803"/>
            <a:ext cx="8953989" cy="4964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7389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m 20">
            <a:extLst>
              <a:ext uri="{FF2B5EF4-FFF2-40B4-BE49-F238E27FC236}">
                <a16:creationId xmlns:a16="http://schemas.microsoft.com/office/drawing/2014/main" id="{A1C81863-24D3-8ED2-3408-DF72596648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91640" y="6858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DE DADOS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914400" y="131064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Bússola Pública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914400" y="2042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Automatizado de Dados Legislativos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914400" y="2560320"/>
            <a:ext cx="816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Automatizando o monitoramento legislativo com Python, Pandas e PostgreSQL na nuvem — do dado bruto à inteligência analítica.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16840" y="4021074"/>
            <a:ext cx="1478280" cy="45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</a:p>
          <a:p>
            <a:pPr marL="0" indent="0" algn="ctr">
              <a:buNone/>
            </a:pPr>
            <a:endParaRPr lang="en-US" sz="10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2197608" y="3795522"/>
            <a:ext cx="841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810000" y="378790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675376" y="3787902"/>
            <a:ext cx="10149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155180" y="3757422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Medalhão</a:t>
            </a:r>
            <a:endParaRPr lang="en-US" sz="1000" dirty="0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558B0E8B-8F3D-F9B5-5CC5-2E547C89E6B5}"/>
              </a:ext>
            </a:extLst>
          </p:cNvPr>
          <p:cNvSpPr txBox="1"/>
          <p:nvPr/>
        </p:nvSpPr>
        <p:spPr>
          <a:xfrm>
            <a:off x="375920" y="4104894"/>
            <a:ext cx="14782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Automação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Robusta e </a:t>
            </a:r>
            <a:r>
              <a:rPr lang="en-US" sz="10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Escálável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  <a:p>
            <a:pPr algn="ctr"/>
            <a:endParaRPr lang="pt-BR" sz="1000" dirty="0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331EE400-9DE7-175A-A4C1-751852E62E3C}"/>
              </a:ext>
            </a:extLst>
          </p:cNvPr>
          <p:cNvSpPr txBox="1"/>
          <p:nvPr/>
        </p:nvSpPr>
        <p:spPr>
          <a:xfrm>
            <a:off x="2077720" y="4107942"/>
            <a:ext cx="14782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Tratamento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10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dados </a:t>
            </a:r>
            <a:r>
              <a:rPr lang="en-US" sz="10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eficiente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  <a:p>
            <a:pPr algn="ctr"/>
            <a:endParaRPr lang="pt-BR" sz="1000" dirty="0"/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4A085649-95A2-7209-C495-1F9FA970AC27}"/>
              </a:ext>
            </a:extLst>
          </p:cNvPr>
          <p:cNvSpPr txBox="1"/>
          <p:nvPr/>
        </p:nvSpPr>
        <p:spPr>
          <a:xfrm>
            <a:off x="3810000" y="4131056"/>
            <a:ext cx="14782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Armazenamento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Seguro e </a:t>
            </a:r>
            <a:r>
              <a:rPr lang="en-US" sz="10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estruturado</a:t>
            </a:r>
            <a:endParaRPr lang="en-US" sz="1000" dirty="0"/>
          </a:p>
          <a:p>
            <a:pPr algn="ctr"/>
            <a:endParaRPr lang="pt-BR" sz="1000" dirty="0"/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21FC77F3-A7A7-432C-118C-D1F02D3674AD}"/>
              </a:ext>
            </a:extLst>
          </p:cNvPr>
          <p:cNvSpPr txBox="1"/>
          <p:nvPr/>
        </p:nvSpPr>
        <p:spPr>
          <a:xfrm>
            <a:off x="5542280" y="4107942"/>
            <a:ext cx="14782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</a:t>
            </a:r>
            <a:r>
              <a:rPr lang="en-US" sz="10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nuvem</a:t>
            </a:r>
            <a:endParaRPr lang="en-US" sz="1000" dirty="0"/>
          </a:p>
          <a:p>
            <a:pPr algn="ctr"/>
            <a:endParaRPr lang="pt-BR" sz="1000" dirty="0"/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EF81E10F-0B2A-2BC3-FF0F-390A1F61B514}"/>
              </a:ext>
            </a:extLst>
          </p:cNvPr>
          <p:cNvSpPr txBox="1"/>
          <p:nvPr/>
        </p:nvSpPr>
        <p:spPr>
          <a:xfrm>
            <a:off x="7273290" y="4054856"/>
            <a:ext cx="14782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Camadas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Bronze, Silver e Gold para dados </a:t>
            </a:r>
            <a:r>
              <a:rPr lang="en-US" sz="10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confiáveis</a:t>
            </a:r>
            <a:endParaRPr lang="en-US" sz="1000" dirty="0"/>
          </a:p>
          <a:p>
            <a:pPr algn="ctr"/>
            <a:endParaRPr lang="pt-BR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a Bússola Pública operava antes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023360" cy="34747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810512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Bússola Pública é uma consultoria de relações governamentais que vende </a:t>
            </a:r>
            <a:r>
              <a:rPr lang="en-US" sz="12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legislativa</a:t>
            </a: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grandes clientes corporativos.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 de: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58368" y="3246120"/>
            <a:ext cx="164592" cy="16459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914400" y="32004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Projetos de lei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58368" y="3538728"/>
            <a:ext cx="164592" cy="16459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914400" y="34930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Votações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58368" y="3831336"/>
            <a:ext cx="164592" cy="16459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914400" y="378561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Gastos de deputados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1143000"/>
            <a:ext cx="3977640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4983480" y="1234440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Processo Manual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83480" y="1581912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>
              <a:spcAft>
                <a:spcPts val="1000"/>
              </a:spcAft>
            </a:pPr>
            <a:r>
              <a:rPr lang="pt-BR" sz="1200" dirty="0"/>
              <a:t>Falta de padronização na priorização de temas estratégicos por cliente.</a:t>
            </a:r>
          </a:p>
        </p:txBody>
      </p:sp>
      <p:sp>
        <p:nvSpPr>
          <p:cNvPr id="18" name="Shape 16"/>
          <p:cNvSpPr/>
          <p:nvPr/>
        </p:nvSpPr>
        <p:spPr>
          <a:xfrm>
            <a:off x="4754880" y="2313432"/>
            <a:ext cx="3977640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4983480" y="2404872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</a:t>
            </a:r>
            <a:r>
              <a:rPr lang="en-US" sz="1300" b="1" dirty="0" err="1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Suscetível</a:t>
            </a: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à Erros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83480" y="2752344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1200" dirty="0"/>
              <a:t>Risco de perder o momento certo de ação sobre uma proposição relevante.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754880" y="3483864"/>
            <a:ext cx="3977640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4983480" y="3575304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Impossível Escalar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83480" y="3922776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>
              <a:spcAft>
                <a:spcPts val="1000"/>
              </a:spcAft>
            </a:pPr>
            <a:r>
              <a:rPr lang="pt-BR" sz="1200" dirty="0"/>
              <a:t>Mais de 14.900 proposições, 5.373 votações e 73.957 despesas já mapeadas — volume inviável de acompanhar manualmente.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1E40AF">
              <a:alpha val="12000"/>
            </a:srgbClr>
          </a:solidFill>
          <a:ln w="12700">
            <a:solidFill>
              <a:srgbClr val="1E40A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SOLUÇÃO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Arquitetura Medalhão — do dado bruto à nuvem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2011680" cy="3200400"/>
          </a:xfrm>
          <a:prstGeom prst="roundRect">
            <a:avLst>
              <a:gd name="adj" fmla="val 5455"/>
            </a:avLst>
          </a:prstGeom>
          <a:solidFill>
            <a:srgbClr val="142060"/>
          </a:solidFill>
          <a:ln w="12700">
            <a:solidFill>
              <a:srgbClr val="CD7F32">
                <a:alpha val="7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411480" y="148132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CD7F32">
              <a:alpha val="80000"/>
            </a:srgbClr>
          </a:solidFill>
          <a:ln w="12700">
            <a:solidFill>
              <a:srgbClr val="CD7F32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411480" y="14813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005840" y="1965960"/>
            <a:ext cx="640080" cy="640080"/>
          </a:xfrm>
          <a:prstGeom prst="ellipse">
            <a:avLst/>
          </a:prstGeom>
          <a:solidFill>
            <a:srgbClr val="CD7F32">
              <a:alpha val="60000"/>
            </a:srgbClr>
          </a:solidFill>
          <a:ln w="12700">
            <a:solidFill>
              <a:srgbClr val="CD7F3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1005840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29768" y="274320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29768" y="3154680"/>
            <a:ext cx="17922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pt-BR" sz="1050" dirty="0">
                <a:solidFill>
                  <a:srgbClr val="FFFFFF"/>
                </a:solidFill>
                <a:latin typeface="+mj-lt"/>
              </a:rPr>
              <a:t>Extração via API de Dados Abertos da Câmara (</a:t>
            </a:r>
            <a:r>
              <a:rPr lang="pt-BR" sz="1050" dirty="0" err="1">
                <a:solidFill>
                  <a:srgbClr val="FFFFFF"/>
                </a:solidFill>
                <a:latin typeface="+mj-lt"/>
              </a:rPr>
              <a:t>src</a:t>
            </a:r>
            <a:r>
              <a:rPr lang="pt-BR" sz="1050" dirty="0">
                <a:solidFill>
                  <a:srgbClr val="FFFFFF"/>
                </a:solidFill>
                <a:latin typeface="+mj-lt"/>
              </a:rPr>
              <a:t>/</a:t>
            </a:r>
            <a:r>
              <a:rPr lang="pt-BR" sz="1050" dirty="0" err="1">
                <a:solidFill>
                  <a:srgbClr val="FFFFFF"/>
                </a:solidFill>
                <a:latin typeface="+mj-lt"/>
              </a:rPr>
              <a:t>extract</a:t>
            </a:r>
            <a:r>
              <a:rPr lang="pt-BR" sz="1050" dirty="0">
                <a:solidFill>
                  <a:srgbClr val="FFFFFF"/>
                </a:solidFill>
                <a:latin typeface="+mj-lt"/>
              </a:rPr>
              <a:t>_*.</a:t>
            </a:r>
            <a:r>
              <a:rPr lang="pt-BR" sz="1050" dirty="0" err="1">
                <a:solidFill>
                  <a:srgbClr val="FFFFFF"/>
                </a:solidFill>
                <a:latin typeface="+mj-lt"/>
              </a:rPr>
              <a:t>py</a:t>
            </a:r>
            <a:r>
              <a:rPr lang="pt-BR" sz="1050" dirty="0">
                <a:solidFill>
                  <a:srgbClr val="FFFFFF"/>
                </a:solidFill>
                <a:latin typeface="+mj-lt"/>
              </a:rPr>
              <a:t>).</a:t>
            </a:r>
            <a:endParaRPr lang="en-US" sz="1050" dirty="0">
              <a:latin typeface="+mj-lt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350008" y="26060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6B6D4"/>
                </a:solidFill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514600" y="1371600"/>
            <a:ext cx="2011680" cy="3200400"/>
          </a:xfrm>
          <a:prstGeom prst="roundRect">
            <a:avLst>
              <a:gd name="adj" fmla="val 5455"/>
            </a:avLst>
          </a:prstGeom>
          <a:solidFill>
            <a:srgbClr val="142060"/>
          </a:solidFill>
          <a:ln w="12700">
            <a:solidFill>
              <a:srgbClr val="C0C0C0">
                <a:alpha val="7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2606040" y="148132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C0C0C0">
              <a:alpha val="80000"/>
            </a:srgbClr>
          </a:solidFill>
          <a:ln w="12700">
            <a:solidFill>
              <a:srgbClr val="C0C0C0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2606040" y="14813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00400" y="1965960"/>
            <a:ext cx="640080" cy="640080"/>
          </a:xfrm>
          <a:prstGeom prst="ellipse">
            <a:avLst/>
          </a:prstGeom>
          <a:solidFill>
            <a:srgbClr val="C0C0C0">
              <a:alpha val="60000"/>
            </a:srgbClr>
          </a:solidFill>
          <a:ln w="12700">
            <a:solidFill>
              <a:srgbClr val="C0C0C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3200400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624328" y="274320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Limpeza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624328" y="3154680"/>
            <a:ext cx="17922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1050" dirty="0">
                <a:solidFill>
                  <a:srgbClr val="FFFFFF"/>
                </a:solidFill>
              </a:rPr>
              <a:t>Limpeza e padronização com Pandas (</a:t>
            </a:r>
            <a:r>
              <a:rPr lang="pt-BR" sz="1050" dirty="0" err="1">
                <a:solidFill>
                  <a:srgbClr val="FFFFFF"/>
                </a:solidFill>
              </a:rPr>
              <a:t>src</a:t>
            </a:r>
            <a:r>
              <a:rPr lang="pt-BR" sz="1050" dirty="0">
                <a:solidFill>
                  <a:srgbClr val="FFFFFF"/>
                </a:solidFill>
              </a:rPr>
              <a:t>/</a:t>
            </a:r>
            <a:r>
              <a:rPr lang="pt-BR" sz="1050" dirty="0" err="1">
                <a:solidFill>
                  <a:srgbClr val="FFFFFF"/>
                </a:solidFill>
              </a:rPr>
              <a:t>transform</a:t>
            </a:r>
            <a:r>
              <a:rPr lang="pt-BR" sz="1050" dirty="0">
                <a:solidFill>
                  <a:srgbClr val="FFFFFF"/>
                </a:solidFill>
              </a:rPr>
              <a:t>_*.</a:t>
            </a:r>
            <a:r>
              <a:rPr lang="pt-BR" sz="1050" dirty="0" err="1">
                <a:solidFill>
                  <a:srgbClr val="FFFFFF"/>
                </a:solidFill>
              </a:rPr>
              <a:t>py</a:t>
            </a:r>
            <a:r>
              <a:rPr lang="pt-BR" sz="1050" dirty="0">
                <a:solidFill>
                  <a:srgbClr val="FFFFFF"/>
                </a:solidFill>
              </a:rPr>
              <a:t>).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44568" y="26060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6B6D4"/>
                </a:solidFill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709160" y="1371600"/>
            <a:ext cx="2011680" cy="3200400"/>
          </a:xfrm>
          <a:prstGeom prst="roundRect">
            <a:avLst>
              <a:gd name="adj" fmla="val 5455"/>
            </a:avLst>
          </a:prstGeom>
          <a:solidFill>
            <a:srgbClr val="142060"/>
          </a:solidFill>
          <a:ln w="12700">
            <a:solidFill>
              <a:srgbClr val="FFD700">
                <a:alpha val="7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4800600" y="148132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FFD700">
              <a:alpha val="80000"/>
            </a:srgbClr>
          </a:solidFill>
          <a:ln w="12700">
            <a:solidFill>
              <a:srgbClr val="FFD700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4800600" y="14813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394960" y="1965960"/>
            <a:ext cx="640080" cy="640080"/>
          </a:xfrm>
          <a:prstGeom prst="ellipse">
            <a:avLst/>
          </a:prstGeom>
          <a:solidFill>
            <a:srgbClr val="FFD700">
              <a:alpha val="60000"/>
            </a:srgbClr>
          </a:solidFill>
          <a:ln w="12700">
            <a:solidFill>
              <a:srgbClr val="FFD70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5394960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818888" y="274320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Analítico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818888" y="3154680"/>
            <a:ext cx="17922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1000"/>
              </a:spcAft>
            </a:pPr>
            <a:r>
              <a:rPr lang="pt-BR" sz="1050" dirty="0">
                <a:solidFill>
                  <a:srgbClr val="FFFFFF"/>
                </a:solidFill>
              </a:rPr>
              <a:t>conversão para Parquet/</a:t>
            </a:r>
            <a:r>
              <a:rPr lang="pt-BR" sz="1050" dirty="0" err="1">
                <a:solidFill>
                  <a:srgbClr val="FFFFFF"/>
                </a:solidFill>
              </a:rPr>
              <a:t>Snappy</a:t>
            </a:r>
            <a:r>
              <a:rPr lang="pt-BR" sz="1050" dirty="0">
                <a:solidFill>
                  <a:srgbClr val="FFFFFF"/>
                </a:solidFill>
              </a:rPr>
              <a:t> via </a:t>
            </a:r>
            <a:r>
              <a:rPr lang="pt-BR" sz="1050" dirty="0" err="1">
                <a:solidFill>
                  <a:srgbClr val="FFFFFF"/>
                </a:solidFill>
              </a:rPr>
              <a:t>PyArrow</a:t>
            </a:r>
            <a:r>
              <a:rPr lang="pt-BR" sz="1050" dirty="0">
                <a:solidFill>
                  <a:srgbClr val="FFFFFF"/>
                </a:solidFill>
              </a:rPr>
              <a:t> (</a:t>
            </a:r>
            <a:r>
              <a:rPr lang="pt-BR" sz="1050" dirty="0" err="1">
                <a:solidFill>
                  <a:srgbClr val="FFFFFF"/>
                </a:solidFill>
              </a:rPr>
              <a:t>src</a:t>
            </a:r>
            <a:r>
              <a:rPr lang="pt-BR" sz="1050" dirty="0">
                <a:solidFill>
                  <a:srgbClr val="FFFFFF"/>
                </a:solidFill>
              </a:rPr>
              <a:t>/gold_stage.py).</a:t>
            </a:r>
          </a:p>
        </p:txBody>
      </p:sp>
      <p:sp>
        <p:nvSpPr>
          <p:cNvPr id="28" name="Text 26"/>
          <p:cNvSpPr/>
          <p:nvPr/>
        </p:nvSpPr>
        <p:spPr>
          <a:xfrm>
            <a:off x="6739128" y="26060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6B6D4"/>
                </a:solidFill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903720" y="1371600"/>
            <a:ext cx="2011680" cy="3200400"/>
          </a:xfrm>
          <a:prstGeom prst="roundRect">
            <a:avLst>
              <a:gd name="adj" fmla="val 5455"/>
            </a:avLst>
          </a:prstGeom>
          <a:solidFill>
            <a:srgbClr val="142060"/>
          </a:solidFill>
          <a:ln w="12700">
            <a:solidFill>
              <a:srgbClr val="3B82F6">
                <a:alpha val="7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0" name="Shape 28"/>
          <p:cNvSpPr/>
          <p:nvPr/>
        </p:nvSpPr>
        <p:spPr>
          <a:xfrm>
            <a:off x="6995160" y="148132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3B82F6">
              <a:alpha val="80000"/>
            </a:srgbClr>
          </a:solidFill>
          <a:ln w="12700">
            <a:solidFill>
              <a:srgbClr val="3B82F6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6995160" y="14813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589520" y="1965960"/>
            <a:ext cx="640080" cy="640080"/>
          </a:xfrm>
          <a:prstGeom prst="ellipse">
            <a:avLst/>
          </a:prstGeom>
          <a:solidFill>
            <a:srgbClr val="3B82F6">
              <a:alpha val="60000"/>
            </a:srgbClr>
          </a:solidFill>
          <a:ln w="12700">
            <a:solidFill>
              <a:srgbClr val="3B82F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7589520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013448" y="274320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PostgreSQL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013448" y="3154680"/>
            <a:ext cx="17922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1050" dirty="0">
                <a:solidFill>
                  <a:srgbClr val="FFFFFF"/>
                </a:solidFill>
              </a:rPr>
              <a:t>Carga em Star </a:t>
            </a:r>
            <a:r>
              <a:rPr lang="pt-BR" sz="1050" dirty="0" err="1">
                <a:solidFill>
                  <a:srgbClr val="FFFFFF"/>
                </a:solidFill>
              </a:rPr>
              <a:t>Schema</a:t>
            </a:r>
            <a:r>
              <a:rPr lang="pt-BR" sz="1050" dirty="0">
                <a:solidFill>
                  <a:srgbClr val="FFFFFF"/>
                </a:solidFill>
              </a:rPr>
              <a:t> no </a:t>
            </a:r>
            <a:r>
              <a:rPr lang="pt-BR" sz="1050" dirty="0" err="1">
                <a:solidFill>
                  <a:srgbClr val="FFFFFF"/>
                </a:solidFill>
              </a:rPr>
              <a:t>Supabase</a:t>
            </a:r>
            <a:r>
              <a:rPr lang="pt-BR" sz="1050" dirty="0">
                <a:solidFill>
                  <a:srgbClr val="FFFFFF"/>
                </a:solidFill>
              </a:rPr>
              <a:t>/PostgreSQL via </a:t>
            </a:r>
            <a:r>
              <a:rPr lang="pt-BR" sz="1050" dirty="0" err="1">
                <a:solidFill>
                  <a:srgbClr val="FFFFFF"/>
                </a:solidFill>
              </a:rPr>
              <a:t>SQLAlchemy</a:t>
            </a:r>
            <a:r>
              <a:rPr lang="pt-BR" sz="1050" dirty="0">
                <a:solidFill>
                  <a:srgbClr val="FFFFFF"/>
                </a:solidFill>
              </a:rPr>
              <a:t> (</a:t>
            </a:r>
            <a:r>
              <a:rPr lang="pt-BR" sz="1050" dirty="0" err="1">
                <a:solidFill>
                  <a:srgbClr val="FFFFFF"/>
                </a:solidFill>
              </a:rPr>
              <a:t>chunked</a:t>
            </a:r>
            <a:r>
              <a:rPr lang="pt-BR" sz="1050" dirty="0">
                <a:solidFill>
                  <a:srgbClr val="FFFFFF"/>
                </a:solidFill>
              </a:rPr>
              <a:t>).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20040" y="4617720"/>
            <a:ext cx="8503920" cy="384048"/>
          </a:xfrm>
          <a:prstGeom prst="roundRect">
            <a:avLst>
              <a:gd name="adj" fmla="val 16667"/>
            </a:avLst>
          </a:prstGeom>
          <a:solidFill>
            <a:srgbClr val="061235"/>
          </a:solidFill>
          <a:ln w="12700">
            <a:solidFill>
              <a:srgbClr val="06B6D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Text 35"/>
          <p:cNvSpPr/>
          <p:nvPr/>
        </p:nvSpPr>
        <p:spPr>
          <a:xfrm>
            <a:off x="457200" y="46360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Mais de 70.000 linhas de despesas tratadas apenas para o ano corrente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 e próximos passos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11480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594360" y="128016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Extração Resiliente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94360" y="16276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brutos salvos em JSON com controle de paginação e rate limit.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304288"/>
            <a:ext cx="411480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594360" y="239572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Qualidade Garantida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94360" y="27432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com dim_deputados, dim_proposicoes e fato_despesas.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3419856"/>
            <a:ext cx="411480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594360" y="351129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Cloud Ready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94360" y="385876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Ingestão em lotes no Supabase via SQLAlchemy — escalável desde o dia 1.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09160" y="1188720"/>
            <a:ext cx="4069080" cy="3346704"/>
          </a:xfrm>
          <a:prstGeom prst="roundRect">
            <a:avLst>
              <a:gd name="adj" fmla="val 3279"/>
            </a:avLst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4937760" y="1353312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Próximas Fases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892040" y="1810512"/>
            <a:ext cx="3657600" cy="987552"/>
          </a:xfrm>
          <a:prstGeom prst="roundRect">
            <a:avLst>
              <a:gd name="adj" fmla="val 7407"/>
            </a:avLst>
          </a:prstGeom>
          <a:solidFill>
            <a:srgbClr val="1E40AF">
              <a:alpha val="30000"/>
            </a:srgbClr>
          </a:solidFill>
          <a:ln w="12700">
            <a:solidFill>
              <a:srgbClr val="3B82F6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5074920" y="190195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IA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74920" y="224942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com LLMs para enriquecimento automático das proposições legislativas.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92040" y="2926080"/>
            <a:ext cx="3657600" cy="987552"/>
          </a:xfrm>
          <a:prstGeom prst="roundRect">
            <a:avLst>
              <a:gd name="adj" fmla="val 7407"/>
            </a:avLst>
          </a:prstGeom>
          <a:solidFill>
            <a:srgbClr val="1E40AF">
              <a:alpha val="30000"/>
            </a:srgbClr>
          </a:solidFill>
          <a:ln w="12700">
            <a:solidFill>
              <a:srgbClr val="3B82F6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5074920" y="301752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n8n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74920" y="336499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Orquestração automatizada com workflows de monitoramento e alertas.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4617720"/>
            <a:ext cx="8412480" cy="384048"/>
          </a:xfrm>
          <a:prstGeom prst="roundRect">
            <a:avLst>
              <a:gd name="adj" fmla="val 16667"/>
            </a:avLst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457200" y="46360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De planilhas manuais a um pipeline de dados escalável, resiliente e pronto para IA</a:t>
            </a:r>
            <a:endParaRPr lang="en-US" sz="115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5" name="Tinta 24">
                <a:extLst>
                  <a:ext uri="{FF2B5EF4-FFF2-40B4-BE49-F238E27FC236}">
                    <a16:creationId xmlns:a16="http://schemas.microsoft.com/office/drawing/2014/main" id="{AB6C456F-6DE8-AE21-9FF1-ED55DB1E8E69}"/>
                  </a:ext>
                </a:extLst>
              </p14:cNvPr>
              <p14:cNvContentPartPr/>
              <p14:nvPr/>
            </p14:nvContentPartPr>
            <p14:xfrm>
              <a:off x="5612705" y="4079465"/>
              <a:ext cx="360" cy="360"/>
            </p14:xfrm>
          </p:contentPart>
        </mc:Choice>
        <mc:Fallback>
          <p:pic>
            <p:nvPicPr>
              <p:cNvPr id="25" name="Tinta 24">
                <a:extLst>
                  <a:ext uri="{FF2B5EF4-FFF2-40B4-BE49-F238E27FC236}">
                    <a16:creationId xmlns:a16="http://schemas.microsoft.com/office/drawing/2014/main" id="{AB6C456F-6DE8-AE21-9FF1-ED55DB1E8E6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606585" y="4073345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351</Words>
  <Application>Microsoft Office PowerPoint</Application>
  <PresentationFormat>Apresentação na tela (16:9)</PresentationFormat>
  <Paragraphs>68</Paragraphs>
  <Slides>5</Slides>
  <Notes>4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9" baseType="lpstr">
      <vt:lpstr>Arial</vt:lpstr>
      <vt:lpstr>Calibri</vt:lpstr>
      <vt:lpstr>Cambria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Bússola Pública - Pipeline de Dados</dc:title>
  <dc:subject>PptxGenJS Presentation</dc:subject>
  <dc:creator>PptxGenJS</dc:creator>
  <cp:lastModifiedBy>Mario Castilho</cp:lastModifiedBy>
  <cp:revision>6</cp:revision>
  <dcterms:created xsi:type="dcterms:W3CDTF">2026-06-09T11:56:04Z</dcterms:created>
  <dcterms:modified xsi:type="dcterms:W3CDTF">2026-06-12T17:25:49Z</dcterms:modified>
</cp:coreProperties>
</file>